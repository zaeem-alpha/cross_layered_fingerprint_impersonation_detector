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692640" y="1188720"/>
            <a:ext cx="128016" cy="128016"/>
          </a:xfrm>
          <a:prstGeom prst="ellipse">
            <a:avLst/>
          </a:prstGeom>
          <a:solidFill>
            <a:srgbClr val="3AAFA9"/>
          </a:solidFill>
          <a:ln cap="flat" cmpd="sng" w="12700">
            <a:solidFill>
              <a:srgbClr val="3AAF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607040" y="822960"/>
            <a:ext cx="128016" cy="128016"/>
          </a:xfrm>
          <a:prstGeom prst="ellipse">
            <a:avLst/>
          </a:prstGeom>
          <a:solidFill>
            <a:srgbClr val="3AAFA9"/>
          </a:solidFill>
          <a:ln cap="flat" cmpd="sng" w="12700">
            <a:solidFill>
              <a:srgbClr val="3AAF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1247120" y="1645920"/>
            <a:ext cx="128016" cy="128016"/>
          </a:xfrm>
          <a:prstGeom prst="ellipse">
            <a:avLst/>
          </a:prstGeom>
          <a:solidFill>
            <a:srgbClr val="3AAFA9"/>
          </a:solidFill>
          <a:ln cap="flat" cmpd="sng" w="12700">
            <a:solidFill>
              <a:srgbClr val="3AAF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0149840" y="2103120"/>
            <a:ext cx="128016" cy="128016"/>
          </a:xfrm>
          <a:prstGeom prst="ellipse">
            <a:avLst/>
          </a:prstGeom>
          <a:solidFill>
            <a:srgbClr val="3AAFA9"/>
          </a:solidFill>
          <a:ln cap="flat" cmpd="sng" w="12700">
            <a:solidFill>
              <a:srgbClr val="3AAF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9326880" y="1828800"/>
            <a:ext cx="128016" cy="128016"/>
          </a:xfrm>
          <a:prstGeom prst="ellipse">
            <a:avLst/>
          </a:prstGeom>
          <a:solidFill>
            <a:srgbClr val="3AAFA9"/>
          </a:solidFill>
          <a:ln cap="flat" cmpd="sng" w="12700">
            <a:solidFill>
              <a:srgbClr val="3AAF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" name="Google Shape;21;p3"/>
          <p:cNvCxnSpPr/>
          <p:nvPr/>
        </p:nvCxnSpPr>
        <p:spPr>
          <a:xfrm flipH="1" rot="10800000">
            <a:off x="9756648" y="886968"/>
            <a:ext cx="914400" cy="365760"/>
          </a:xfrm>
          <a:prstGeom prst="straightConnector1">
            <a:avLst/>
          </a:prstGeom>
          <a:noFill/>
          <a:ln cap="flat" cmpd="sng" w="12700">
            <a:solidFill>
              <a:srgbClr val="3AAFA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>
            <a:off x="10671048" y="886968"/>
            <a:ext cx="640080" cy="822960"/>
          </a:xfrm>
          <a:prstGeom prst="straightConnector1">
            <a:avLst/>
          </a:prstGeom>
          <a:noFill/>
          <a:ln cap="flat" cmpd="sng" w="12700">
            <a:solidFill>
              <a:srgbClr val="3AAFA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3"/>
          <p:cNvCxnSpPr/>
          <p:nvPr/>
        </p:nvCxnSpPr>
        <p:spPr>
          <a:xfrm flipH="1">
            <a:off x="10213848" y="1709928"/>
            <a:ext cx="1097280" cy="457200"/>
          </a:xfrm>
          <a:prstGeom prst="straightConnector1">
            <a:avLst/>
          </a:prstGeom>
          <a:noFill/>
          <a:ln cap="flat" cmpd="sng" w="12700">
            <a:solidFill>
              <a:srgbClr val="3AAFA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3"/>
          <p:cNvCxnSpPr/>
          <p:nvPr/>
        </p:nvCxnSpPr>
        <p:spPr>
          <a:xfrm rot="10800000">
            <a:off x="9390888" y="1892808"/>
            <a:ext cx="822960" cy="274320"/>
          </a:xfrm>
          <a:prstGeom prst="straightConnector1">
            <a:avLst/>
          </a:prstGeom>
          <a:noFill/>
          <a:ln cap="flat" cmpd="sng" w="12700">
            <a:solidFill>
              <a:srgbClr val="3AAFA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3"/>
          <p:cNvCxnSpPr/>
          <p:nvPr/>
        </p:nvCxnSpPr>
        <p:spPr>
          <a:xfrm flipH="1" rot="10800000">
            <a:off x="9390888" y="1252728"/>
            <a:ext cx="365760" cy="640080"/>
          </a:xfrm>
          <a:prstGeom prst="straightConnector1">
            <a:avLst/>
          </a:prstGeom>
          <a:noFill/>
          <a:ln cap="flat" cmpd="sng" w="12700">
            <a:solidFill>
              <a:srgbClr val="3AAFA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3"/>
          <p:cNvCxnSpPr/>
          <p:nvPr/>
        </p:nvCxnSpPr>
        <p:spPr>
          <a:xfrm>
            <a:off x="9756648" y="1252728"/>
            <a:ext cx="1554480" cy="457200"/>
          </a:xfrm>
          <a:prstGeom prst="straightConnector1">
            <a:avLst/>
          </a:prstGeom>
          <a:noFill/>
          <a:ln cap="flat" cmpd="sng" w="12700">
            <a:solidFill>
              <a:srgbClr val="3AAFA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3"/>
          <p:cNvSpPr txBox="1"/>
          <p:nvPr/>
        </p:nvSpPr>
        <p:spPr>
          <a:xfrm>
            <a:off x="640080" y="23317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NETWORK SECURITY — SEMESTER PROJECT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640080" y="2743200"/>
            <a:ext cx="9601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Cross-Layer Fingerprint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Impersonation Detector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640080" y="4526280"/>
            <a:ext cx="8686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Catching tools that fake their identity on the network — by checking whether TLS, TCP, and HTTP fingerprints agree with each other.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640080" y="61264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Alpha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AFA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AFA9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Attackers can fake being a normal browser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48640" y="1737360"/>
            <a:ext cx="146304" cy="146304"/>
          </a:xfrm>
          <a:prstGeom prst="ellipse">
            <a:avLst/>
          </a:prstGeom>
          <a:solidFill>
            <a:srgbClr val="3AAFA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 txBox="1"/>
          <p:nvPr/>
        </p:nvSpPr>
        <p:spPr>
          <a:xfrm>
            <a:off x="914400" y="161848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Fingerprinting is everywhere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914400" y="1947672"/>
            <a:ext cx="5212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Networks identify traffic by its TLS handshake (JA3/JA4), its TCP/OS behavior, and its HTTP headers — a fingerprint per layer.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8640" y="3154680"/>
            <a:ext cx="146304" cy="146304"/>
          </a:xfrm>
          <a:prstGeom prst="ellipse">
            <a:avLst/>
          </a:prstGeom>
          <a:solidFill>
            <a:srgbClr val="3AAFA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 txBox="1"/>
          <p:nvPr/>
        </p:nvSpPr>
        <p:spPr>
          <a:xfrm>
            <a:off x="914400" y="303580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Spoofing tools exist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914400" y="3364992"/>
            <a:ext cx="5212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Tools like curl-impersonate, scrapers, and C2 frameworks deliberately copy Chrome's TLS fingerprint to blend in.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48640" y="4572000"/>
            <a:ext cx="146304" cy="146304"/>
          </a:xfrm>
          <a:prstGeom prst="ellipse">
            <a:avLst/>
          </a:prstGeom>
          <a:solidFill>
            <a:srgbClr val="3AAFA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 txBox="1"/>
          <p:nvPr/>
        </p:nvSpPr>
        <p:spPr>
          <a:xfrm>
            <a:off x="914400" y="445312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One layer isn't enough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914400" y="4782312"/>
            <a:ext cx="5212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Matching the TLS layer alone doesn't prove the traffic is really from a browser — the other layers can still give it away.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675120" y="1691640"/>
            <a:ext cx="4937760" cy="4343400"/>
          </a:xfrm>
          <a:prstGeom prst="roundRect">
            <a:avLst>
              <a:gd fmla="val 2526" name="adj"/>
            </a:avLst>
          </a:prstGeom>
          <a:solidFill>
            <a:srgbClr val="FFFFFF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 txBox="1"/>
          <p:nvPr/>
        </p:nvSpPr>
        <p:spPr>
          <a:xfrm>
            <a:off x="7040880" y="19202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A REAL CHROME REQUEST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7040880" y="22860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TLS (JA4)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9052560" y="228600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Chrome / Windows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7040880" y="267004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TCP (JA4T)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9052560" y="267004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Windows stack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7040880" y="3054096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HTTP (JA4H)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9052560" y="3054096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Chrome headers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040880" y="3483864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All three layers agree  →  consistent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4"/>
          <p:cNvCxnSpPr/>
          <p:nvPr/>
        </p:nvCxnSpPr>
        <p:spPr>
          <a:xfrm>
            <a:off x="7040880" y="3941064"/>
            <a:ext cx="4206240" cy="0"/>
          </a:xfrm>
          <a:prstGeom prst="straightConnector1">
            <a:avLst/>
          </a:prstGeom>
          <a:noFill/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4"/>
          <p:cNvSpPr txBox="1"/>
          <p:nvPr/>
        </p:nvSpPr>
        <p:spPr>
          <a:xfrm>
            <a:off x="7040880" y="4123944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A SPOOFED SCRAPER REQUEST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040880" y="4489704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TLS (JA4)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9052560" y="4489704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Chrome / Windows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040880" y="487375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TCP (JA4T)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9052560" y="4873752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4453C"/>
                </a:solidFill>
                <a:latin typeface="Calibri"/>
                <a:ea typeface="Calibri"/>
                <a:cs typeface="Calibri"/>
                <a:sym typeface="Calibri"/>
              </a:rPr>
              <a:t>Linux stack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040880" y="52578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HTTP (JA4H)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9052560" y="525780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4453C"/>
                </a:solidFill>
                <a:latin typeface="Calibri"/>
                <a:ea typeface="Calibri"/>
                <a:cs typeface="Calibri"/>
                <a:sym typeface="Calibri"/>
              </a:rPr>
              <a:t>Python client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040880" y="568756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4453C"/>
                </a:solidFill>
                <a:latin typeface="Calibri"/>
                <a:ea typeface="Calibri"/>
                <a:cs typeface="Calibri"/>
                <a:sym typeface="Calibri"/>
              </a:rPr>
              <a:t>TLS claims Chrome, TCP/HTTP say otherwise  →  flagged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Network Security — Semester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CORE IDEA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Check layers against each other, not against a list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548640" y="17373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Old approach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48640" y="2148840"/>
            <a:ext cx="5212080" cy="1737360"/>
          </a:xfrm>
          <a:prstGeom prst="roundRect">
            <a:avLst>
              <a:gd fmla="val 5263" name="adj"/>
            </a:avLst>
          </a:prstGeom>
          <a:solidFill>
            <a:srgbClr val="24306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 txBox="1"/>
          <p:nvPr/>
        </p:nvSpPr>
        <p:spPr>
          <a:xfrm>
            <a:off x="868680" y="237744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Compute one fingerprint (e.g. JA4 for TLS) and check it against a database of known-good or known-bad hashes.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868680" y="324612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E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FB3E8"/>
                </a:solidFill>
                <a:latin typeface="Calibri"/>
                <a:ea typeface="Calibri"/>
                <a:cs typeface="Calibri"/>
                <a:sym typeface="Calibri"/>
              </a:rPr>
              <a:t>Needs a labeled dataset. Only catches fingerprints someone already saw.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6309360" y="173736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AFA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AAFA9"/>
                </a:solidFill>
                <a:latin typeface="Calibri"/>
                <a:ea typeface="Calibri"/>
                <a:cs typeface="Calibri"/>
                <a:sym typeface="Calibri"/>
              </a:rPr>
              <a:t>This project's approach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309360" y="2148840"/>
            <a:ext cx="5303520" cy="173736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 txBox="1"/>
          <p:nvPr/>
        </p:nvSpPr>
        <p:spPr>
          <a:xfrm>
            <a:off x="6629400" y="2377440"/>
            <a:ext cx="4663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Compute fingerprints for TLS, TCP/OS, and HTTP for the same connection, and check whether the identity they each imply is consistent.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6629400" y="3246120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No blocklist needed. Catches spoofing tools nobody has fingerprinted yet.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548640" y="42519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 browser's TLS, TCP, and HTTP fingerprints should all tell the same story. When a tool spoofs one layer to look like Chrome, the other layers usually still betray its real origin.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Network Security — Semester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AFA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AFA9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From raw traffic to a plain-English verdict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48640" y="1920240"/>
            <a:ext cx="2606040" cy="3108960"/>
          </a:xfrm>
          <a:prstGeom prst="roundRect">
            <a:avLst>
              <a:gd fmla="val 3509" name="adj"/>
            </a:avLst>
          </a:prstGeom>
          <a:solidFill>
            <a:srgbClr val="FFFFFF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 txBox="1"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777240" y="288036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Capture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777240" y="3291840"/>
            <a:ext cx="2148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Sniff live traffic or read a pcap for each connection.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3154680" y="324612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AFA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3AAFA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3383280" y="1920240"/>
            <a:ext cx="2606040" cy="3108960"/>
          </a:xfrm>
          <a:prstGeom prst="roundRect">
            <a:avLst>
              <a:gd fmla="val 3509" name="adj"/>
            </a:avLst>
          </a:prstGeom>
          <a:solidFill>
            <a:srgbClr val="FFFFFF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3611880" y="2194560"/>
            <a:ext cx="502920" cy="50292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 txBox="1"/>
          <p:nvPr/>
        </p:nvSpPr>
        <p:spPr>
          <a:xfrm>
            <a:off x="3611880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3611880" y="288036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3611880" y="3291840"/>
            <a:ext cx="2148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Pull TLS (JA4), TCP/OS (JA4T), and HTTP (JA4H) fingerprints per flow.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5989320" y="324612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AFA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3AAFA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217920" y="1920240"/>
            <a:ext cx="2606040" cy="3108960"/>
          </a:xfrm>
          <a:prstGeom prst="roundRect">
            <a:avLst>
              <a:gd fmla="val 3509" name="adj"/>
            </a:avLst>
          </a:prstGeom>
          <a:solidFill>
            <a:srgbClr val="FFFFFF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6446520" y="2194560"/>
            <a:ext cx="502920" cy="50292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 txBox="1"/>
          <p:nvPr/>
        </p:nvSpPr>
        <p:spPr>
          <a:xfrm>
            <a:off x="6446520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6446520" y="288036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Compare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6446520" y="3291840"/>
            <a:ext cx="2148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Look up each fingerprint's expected OS/client identity and check for agreement.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8823960" y="324612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AFA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3AAFA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9052560" y="1920240"/>
            <a:ext cx="2606040" cy="3108960"/>
          </a:xfrm>
          <a:prstGeom prst="roundRect">
            <a:avLst>
              <a:gd fmla="val 3509" name="adj"/>
            </a:avLst>
          </a:prstGeom>
          <a:solidFill>
            <a:srgbClr val="FFFFFF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9281160" y="2194560"/>
            <a:ext cx="502920" cy="502920"/>
          </a:xfrm>
          <a:prstGeom prst="ellipse">
            <a:avLst/>
          </a:prstGeom>
          <a:solidFill>
            <a:srgbClr val="3AAFA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 txBox="1"/>
          <p:nvPr/>
        </p:nvSpPr>
        <p:spPr>
          <a:xfrm>
            <a:off x="9281160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9281160" y="288036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9281160" y="3291840"/>
            <a:ext cx="2148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If layers disagree, an LLM writes a short reason for the flag.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Output: each flow is labeled consistent or flagged, with the mismatching layer and a one-line reason.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Network Security — Semester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AFA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AFA9"/>
                </a:solidFill>
                <a:latin typeface="Calibri"/>
                <a:ea typeface="Calibri"/>
                <a:cs typeface="Calibri"/>
                <a:sym typeface="Calibri"/>
              </a:rPr>
              <a:t>COMPONENTS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What's inside the tool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48640" y="1691640"/>
            <a:ext cx="53492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777240" y="1920240"/>
            <a:ext cx="411480" cy="411480"/>
          </a:xfrm>
          <a:prstGeom prst="roundRect">
            <a:avLst>
              <a:gd fmla="val 17778" name="adj"/>
            </a:avLst>
          </a:prstGeom>
          <a:solidFill>
            <a:srgbClr val="1E276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777240" y="19202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1371600" y="1856232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Capture Layer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1371600" y="2194560"/>
            <a:ext cx="4297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pyshark / scapy read live traffic or pcap files and split it into per-connection flows.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217920" y="1691640"/>
            <a:ext cx="53492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6446520" y="1920240"/>
            <a:ext cx="411480" cy="411480"/>
          </a:xfrm>
          <a:prstGeom prst="roundRect">
            <a:avLst>
              <a:gd fmla="val 17778" name="adj"/>
            </a:avLst>
          </a:prstGeom>
          <a:solidFill>
            <a:srgbClr val="1E276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6446520" y="19202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7040880" y="1856232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Fingerprint Extractor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7040880" y="2194560"/>
            <a:ext cx="4297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ja4plus library computes JA4 (TLS), JA4T (TCP/OS), and JA4H (HTTP) for each flow.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48640" y="3291840"/>
            <a:ext cx="53492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777240" y="3520440"/>
            <a:ext cx="411480" cy="411480"/>
          </a:xfrm>
          <a:prstGeom prst="roundRect">
            <a:avLst>
              <a:gd fmla="val 17778" name="adj"/>
            </a:avLst>
          </a:prstGeom>
          <a:solidFill>
            <a:srgbClr val="1E276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 txBox="1"/>
          <p:nvPr/>
        </p:nvSpPr>
        <p:spPr>
          <a:xfrm>
            <a:off x="777240" y="35204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1371600" y="3456432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Reference Table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1371600" y="3794760"/>
            <a:ext cx="4297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A small, self-built table of plausible OS/TCP behaviors, based on public p0f-style signatures.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217920" y="3291840"/>
            <a:ext cx="53492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6446520" y="3520440"/>
            <a:ext cx="411480" cy="411480"/>
          </a:xfrm>
          <a:prstGeom prst="roundRect">
            <a:avLst>
              <a:gd fmla="val 17778" name="adj"/>
            </a:avLst>
          </a:prstGeom>
          <a:solidFill>
            <a:srgbClr val="1E276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6446520" y="35204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7040880" y="3456432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Consistency Engine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7040880" y="3794760"/>
            <a:ext cx="4297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Custom logic: does the claimed identity (TLS+HTTP) match the TCP-layer reality? This is the project's own contribution.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548640" y="4892040"/>
            <a:ext cx="53492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777240" y="5120640"/>
            <a:ext cx="411480" cy="411480"/>
          </a:xfrm>
          <a:prstGeom prst="roundRect">
            <a:avLst>
              <a:gd fmla="val 17778" name="adj"/>
            </a:avLst>
          </a:prstGeom>
          <a:solidFill>
            <a:srgbClr val="1E276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 txBox="1"/>
          <p:nvPr/>
        </p:nvSpPr>
        <p:spPr>
          <a:xfrm>
            <a:off x="777240" y="51206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1371600" y="5056632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Test Data Generator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1371600" y="5394960"/>
            <a:ext cx="4297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Real browser captures for consistent examples; curl-impersonate for self-made spoofed examples — no malware needed.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217920" y="4892040"/>
            <a:ext cx="53492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6446520" y="5120640"/>
            <a:ext cx="411480" cy="411480"/>
          </a:xfrm>
          <a:prstGeom prst="roundRect">
            <a:avLst>
              <a:gd fmla="val 17778" name="adj"/>
            </a:avLst>
          </a:prstGeom>
          <a:solidFill>
            <a:srgbClr val="1E276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6446520" y="51206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7040880" y="5056632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Explanation Layer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7040880" y="5394960"/>
            <a:ext cx="4297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An LLM call turns a flagged mismatch into a plain-English reason, instead of just a label.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Network Security — Semester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AFA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AFA9"/>
                </a:solidFill>
                <a:latin typeface="Calibri"/>
                <a:ea typeface="Calibri"/>
                <a:cs typeface="Calibri"/>
                <a:sym typeface="Calibri"/>
              </a:rPr>
              <a:t>USAGE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Running the tool end to end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548640" y="178308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3AAFA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1188720" y="173736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Point it at traffic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1188720" y="210312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Run the tool against a live interface or feed it a .pcap file to analyze offline.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548640" y="28346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3AAFA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 txBox="1"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1188720" y="278892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Let it process flows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1188720" y="315468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Each connection is fingerprinted at all three layers and scored automatically.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548640" y="388620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3AAFA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 txBox="1"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1188720" y="384048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Review the report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1188720" y="420624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A summary lists every flow as consistent or flagged, with the mismatching layer highlighted.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548640" y="493776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3AAFA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 txBox="1"/>
          <p:nvPr/>
        </p:nvSpPr>
        <p:spPr>
          <a:xfrm>
            <a:off x="548640" y="4937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1188720" y="489204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Read the explanation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1188720" y="525780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For each flagged flow, a plain-English note explains why — e.g. “claims Chrome/Windows via TLS, but TCP behavior matches a Linux scripting client.”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Network Security — Semester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AFA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AFA9"/>
                </a:solidFill>
                <a:latin typeface="Calibri"/>
                <a:ea typeface="Calibri"/>
                <a:cs typeface="Calibri"/>
                <a:sym typeface="Calibri"/>
              </a:rPr>
              <a:t>HOW IT COMPARES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This tool vs. the established options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548640" y="1691640"/>
            <a:ext cx="2743200" cy="566928"/>
          </a:xfrm>
          <a:prstGeom prst="rect">
            <a:avLst/>
          </a:prstGeom>
          <a:solidFill>
            <a:srgbClr val="DDE3F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685800" y="1691640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3291840" y="1691640"/>
            <a:ext cx="2651760" cy="566928"/>
          </a:xfrm>
          <a:prstGeom prst="rect">
            <a:avLst/>
          </a:prstGeom>
          <a:solidFill>
            <a:srgbClr val="DDE3F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3429000" y="169164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JA3 / JA4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5943600" y="1691640"/>
            <a:ext cx="3291840" cy="566928"/>
          </a:xfrm>
          <a:prstGeom prst="rect">
            <a:avLst/>
          </a:prstGeom>
          <a:solidFill>
            <a:srgbClr val="DDE3F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 txBox="1"/>
          <p:nvPr/>
        </p:nvSpPr>
        <p:spPr>
          <a:xfrm>
            <a:off x="6080760" y="169164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Cisco Mercury / EVE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9235440" y="1691640"/>
            <a:ext cx="2651760" cy="56692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 txBox="1"/>
          <p:nvPr/>
        </p:nvSpPr>
        <p:spPr>
          <a:xfrm>
            <a:off x="9372600" y="169164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48640" y="2258568"/>
            <a:ext cx="27432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 txBox="1"/>
          <p:nvPr/>
        </p:nvSpPr>
        <p:spPr>
          <a:xfrm>
            <a:off x="685800" y="2258568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Detection logic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3291840" y="2258568"/>
            <a:ext cx="265176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 txBox="1"/>
          <p:nvPr/>
        </p:nvSpPr>
        <p:spPr>
          <a:xfrm>
            <a:off x="3429000" y="2258568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Match hash to a 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5943600" y="2258568"/>
            <a:ext cx="32918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 txBox="1"/>
          <p:nvPr/>
        </p:nvSpPr>
        <p:spPr>
          <a:xfrm>
            <a:off x="6080760" y="2258568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ML on labeled 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9235440" y="2258568"/>
            <a:ext cx="2651760" cy="566928"/>
          </a:xfrm>
          <a:prstGeom prst="rect">
            <a:avLst/>
          </a:prstGeom>
          <a:solidFill>
            <a:srgbClr val="EAF3F2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 txBox="1"/>
          <p:nvPr/>
        </p:nvSpPr>
        <p:spPr>
          <a:xfrm>
            <a:off x="9372600" y="2258568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5C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05C55"/>
                </a:solidFill>
                <a:latin typeface="Calibri"/>
                <a:ea typeface="Calibri"/>
                <a:cs typeface="Calibri"/>
                <a:sym typeface="Calibri"/>
              </a:rPr>
              <a:t>Cross-layer consistency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48640" y="2825496"/>
            <a:ext cx="2743200" cy="566928"/>
          </a:xfrm>
          <a:prstGeom prst="rect">
            <a:avLst/>
          </a:prstGeom>
          <a:solidFill>
            <a:srgbClr val="F0F2F8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 txBox="1"/>
          <p:nvPr/>
        </p:nvSpPr>
        <p:spPr>
          <a:xfrm>
            <a:off x="685800" y="2825496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Needs malware data?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3291840" y="2825496"/>
            <a:ext cx="2651760" cy="566928"/>
          </a:xfrm>
          <a:prstGeom prst="rect">
            <a:avLst/>
          </a:prstGeom>
          <a:solidFill>
            <a:srgbClr val="F0F2F8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 txBox="1"/>
          <p:nvPr/>
        </p:nvSpPr>
        <p:spPr>
          <a:xfrm>
            <a:off x="3429000" y="2825496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Needs bad-hash 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5943600" y="2825496"/>
            <a:ext cx="3291840" cy="566928"/>
          </a:xfrm>
          <a:prstGeom prst="rect">
            <a:avLst/>
          </a:prstGeom>
          <a:solidFill>
            <a:srgbClr val="F0F2F8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 txBox="1"/>
          <p:nvPr/>
        </p:nvSpPr>
        <p:spPr>
          <a:xfrm>
            <a:off x="6080760" y="2825496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Needs Cisco's private 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9235440" y="2825496"/>
            <a:ext cx="2651760" cy="566928"/>
          </a:xfrm>
          <a:prstGeom prst="rect">
            <a:avLst/>
          </a:prstGeom>
          <a:solidFill>
            <a:srgbClr val="EAF3F2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 txBox="1"/>
          <p:nvPr/>
        </p:nvSpPr>
        <p:spPr>
          <a:xfrm>
            <a:off x="9372600" y="2825496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5C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05C55"/>
                </a:solidFill>
                <a:latin typeface="Calibri"/>
                <a:ea typeface="Calibri"/>
                <a:cs typeface="Calibri"/>
                <a:sym typeface="Calibri"/>
              </a:rPr>
              <a:t>No — self-generated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548640" y="3392424"/>
            <a:ext cx="27432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 txBox="1"/>
          <p:nvPr/>
        </p:nvSpPr>
        <p:spPr>
          <a:xfrm>
            <a:off x="685800" y="3392424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Catches unseen tools?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3291840" y="3392424"/>
            <a:ext cx="265176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 txBox="1"/>
          <p:nvPr/>
        </p:nvSpPr>
        <p:spPr>
          <a:xfrm>
            <a:off x="3429000" y="3392424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5943600" y="3392424"/>
            <a:ext cx="32918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 txBox="1"/>
          <p:nvPr/>
        </p:nvSpPr>
        <p:spPr>
          <a:xfrm>
            <a:off x="6080760" y="3392424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Only what the model learned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9235440" y="3392424"/>
            <a:ext cx="2651760" cy="566928"/>
          </a:xfrm>
          <a:prstGeom prst="rect">
            <a:avLst/>
          </a:prstGeom>
          <a:solidFill>
            <a:srgbClr val="EAF3F2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 txBox="1"/>
          <p:nvPr/>
        </p:nvSpPr>
        <p:spPr>
          <a:xfrm>
            <a:off x="9372600" y="3392424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5C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05C55"/>
                </a:solidFill>
                <a:latin typeface="Calibri"/>
                <a:ea typeface="Calibri"/>
                <a:cs typeface="Calibri"/>
                <a:sym typeface="Calibri"/>
              </a:rPr>
              <a:t>Yes, by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548640" y="3959352"/>
            <a:ext cx="2743200" cy="566928"/>
          </a:xfrm>
          <a:prstGeom prst="rect">
            <a:avLst/>
          </a:prstGeom>
          <a:solidFill>
            <a:srgbClr val="F0F2F8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 txBox="1"/>
          <p:nvPr/>
        </p:nvSpPr>
        <p:spPr>
          <a:xfrm>
            <a:off x="685800" y="3959352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Explains its flags?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3291840" y="3959352"/>
            <a:ext cx="2651760" cy="566928"/>
          </a:xfrm>
          <a:prstGeom prst="rect">
            <a:avLst/>
          </a:prstGeom>
          <a:solidFill>
            <a:srgbClr val="F0F2F8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 txBox="1"/>
          <p:nvPr/>
        </p:nvSpPr>
        <p:spPr>
          <a:xfrm>
            <a:off x="3429000" y="3959352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No, label only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5943600" y="3959352"/>
            <a:ext cx="3291840" cy="566928"/>
          </a:xfrm>
          <a:prstGeom prst="rect">
            <a:avLst/>
          </a:prstGeom>
          <a:solidFill>
            <a:srgbClr val="F0F2F8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 txBox="1"/>
          <p:nvPr/>
        </p:nvSpPr>
        <p:spPr>
          <a:xfrm>
            <a:off x="6080760" y="3959352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No, label only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9235440" y="3959352"/>
            <a:ext cx="2651760" cy="566928"/>
          </a:xfrm>
          <a:prstGeom prst="rect">
            <a:avLst/>
          </a:prstGeom>
          <a:solidFill>
            <a:srgbClr val="EAF3F2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 txBox="1"/>
          <p:nvPr/>
        </p:nvSpPr>
        <p:spPr>
          <a:xfrm>
            <a:off x="9372600" y="3959352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5C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05C55"/>
                </a:solidFill>
                <a:latin typeface="Calibri"/>
                <a:ea typeface="Calibri"/>
                <a:cs typeface="Calibri"/>
                <a:sym typeface="Calibri"/>
              </a:rPr>
              <a:t>Yes — plain-English reason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548640" y="4526280"/>
            <a:ext cx="27432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 txBox="1"/>
          <p:nvPr/>
        </p:nvSpPr>
        <p:spPr>
          <a:xfrm>
            <a:off x="685800" y="4526280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Openly reproducible?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3291840" y="4526280"/>
            <a:ext cx="265176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 txBox="1"/>
          <p:nvPr/>
        </p:nvSpPr>
        <p:spPr>
          <a:xfrm>
            <a:off x="3429000" y="452628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5943600" y="4526280"/>
            <a:ext cx="32918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 txBox="1"/>
          <p:nvPr/>
        </p:nvSpPr>
        <p:spPr>
          <a:xfrm>
            <a:off x="6080760" y="452628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No (core dataset is private)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9235440" y="4526280"/>
            <a:ext cx="2651760" cy="566928"/>
          </a:xfrm>
          <a:prstGeom prst="rect">
            <a:avLst/>
          </a:prstGeom>
          <a:solidFill>
            <a:srgbClr val="EAF3F2"/>
          </a:solidFill>
          <a:ln cap="flat" cmpd="sng" w="12700">
            <a:solidFill>
              <a:srgbClr val="E3E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 txBox="1"/>
          <p:nvPr/>
        </p:nvSpPr>
        <p:spPr>
          <a:xfrm>
            <a:off x="9372600" y="452628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5C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05C55"/>
                </a:solidFill>
                <a:latin typeface="Calibri"/>
                <a:ea typeface="Calibri"/>
                <a:cs typeface="Calibri"/>
                <a:sym typeface="Calibri"/>
              </a:rPr>
              <a:t>Yes, fully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Network Security — Semester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"/>
          <p:cNvSpPr txBox="1"/>
          <p:nvPr/>
        </p:nvSpPr>
        <p:spPr>
          <a:xfrm>
            <a:off x="640080" y="21031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TAKEAWAY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 txBox="1"/>
          <p:nvPr/>
        </p:nvSpPr>
        <p:spPr>
          <a:xfrm>
            <a:off x="640080" y="2514600"/>
            <a:ext cx="10515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Don't ask “is this fingerprint on a list?”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Ask “do this connection's fingerprints agree with each other?”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640080" y="4343400"/>
            <a:ext cx="457200" cy="36576"/>
          </a:xfrm>
          <a:prstGeom prst="rect">
            <a:avLst/>
          </a:prstGeom>
          <a:solidFill>
            <a:srgbClr val="3AAFA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 txBox="1"/>
          <p:nvPr/>
        </p:nvSpPr>
        <p:spPr>
          <a:xfrm>
            <a:off x="640080" y="452628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No malware dataset. No blocklist. Catches spoofing tools that haven't been seen before — and explains why in plain English.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